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f0f67a89fd41ad" /><Relationship Type="http://schemas.openxmlformats.org/officeDocument/2006/relationships/extended-properties" Target="/docProps/app.xml" Id="Rdc75fd9fe70d43a4" /><Relationship Type="http://schemas.openxmlformats.org/officeDocument/2006/relationships/officeDocument" Target="/ppt/presentation.xml" Id="Rb2467349ea1f43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430d43e3f64f1f"/>
  </p:sldMasterIdLst>
  <p:notesMasterIdLst>
    <p:notesMasterId xmlns:r="http://schemas.openxmlformats.org/officeDocument/2006/relationships" r:id="Rb8941faa7b174fa7"/>
  </p:notesMasterIdLst>
  <p:sldIdLst>
    <p:sldId xmlns:r="http://schemas.openxmlformats.org/officeDocument/2006/relationships" id="256" r:id="R14742aba4ff14298"/>
    <p:sldId xmlns:r="http://schemas.openxmlformats.org/officeDocument/2006/relationships" id="257" r:id="R955988338f074f79"/>
    <p:sldId xmlns:r="http://schemas.openxmlformats.org/officeDocument/2006/relationships" id="258" r:id="R6888f6996cd04f9b"/>
    <p:sldId xmlns:r="http://schemas.openxmlformats.org/officeDocument/2006/relationships" id="259" r:id="R1a270fdf93f54f4d"/>
    <p:sldId xmlns:r="http://schemas.openxmlformats.org/officeDocument/2006/relationships" id="260" r:id="R71999bdbd9444373"/>
    <p:sldId xmlns:r="http://schemas.openxmlformats.org/officeDocument/2006/relationships" id="261" r:id="R3f3997eb6d4f4ce8"/>
    <p:sldId xmlns:r="http://schemas.openxmlformats.org/officeDocument/2006/relationships" id="262" r:id="R4c0b3294ed374de6"/>
    <p:sldId xmlns:r="http://schemas.openxmlformats.org/officeDocument/2006/relationships" id="263" r:id="R199d3e17ad944a04"/>
    <p:sldId xmlns:r="http://schemas.openxmlformats.org/officeDocument/2006/relationships" id="264" r:id="Rf9200d5f1f8045be"/>
    <p:sldId xmlns:r="http://schemas.openxmlformats.org/officeDocument/2006/relationships" id="265" r:id="R8f9deb346a8c49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3ffb6fae274a8b" /><Relationship Type="http://schemas.openxmlformats.org/officeDocument/2006/relationships/slideMaster" Target="/ppt/slideMasters/slideMaster1.xml" Id="Re4430d43e3f64f1f" /><Relationship Type="http://schemas.openxmlformats.org/officeDocument/2006/relationships/notesMaster" Target="/ppt/notesMasters/notesMaster1.xml" Id="Rb8941faa7b174fa7" /><Relationship Type="http://schemas.openxmlformats.org/officeDocument/2006/relationships/presProps" Target="/ppt/presProps.xml" Id="R3f3b0fd4920040b1" /><Relationship Type="http://schemas.openxmlformats.org/officeDocument/2006/relationships/tableStyles" Target="/ppt/tableStyles.xml" Id="R8a4efc7ee39b4b22" /><Relationship Type="http://schemas.openxmlformats.org/officeDocument/2006/relationships/slide" Target="/ppt/slides/slide1.xml" Id="R14742aba4ff14298" /><Relationship Type="http://schemas.openxmlformats.org/officeDocument/2006/relationships/slide" Target="/ppt/slides/slide2.xml" Id="R955988338f074f79" /><Relationship Type="http://schemas.openxmlformats.org/officeDocument/2006/relationships/slide" Target="/ppt/slides/slide3.xml" Id="R6888f6996cd04f9b" /><Relationship Type="http://schemas.openxmlformats.org/officeDocument/2006/relationships/slide" Target="/ppt/slides/slide4.xml" Id="R1a270fdf93f54f4d" /><Relationship Type="http://schemas.openxmlformats.org/officeDocument/2006/relationships/slide" Target="/ppt/slides/slide5.xml" Id="R71999bdbd9444373" /><Relationship Type="http://schemas.openxmlformats.org/officeDocument/2006/relationships/slide" Target="/ppt/slides/slide6.xml" Id="R3f3997eb6d4f4ce8" /><Relationship Type="http://schemas.openxmlformats.org/officeDocument/2006/relationships/slide" Target="/ppt/slides/slide7.xml" Id="R4c0b3294ed374de6" /><Relationship Type="http://schemas.openxmlformats.org/officeDocument/2006/relationships/slide" Target="/ppt/slides/slide8.xml" Id="R199d3e17ad944a04" /><Relationship Type="http://schemas.openxmlformats.org/officeDocument/2006/relationships/slide" Target="/ppt/slides/slide9.xml" Id="Rf9200d5f1f8045be" /><Relationship Type="http://schemas.openxmlformats.org/officeDocument/2006/relationships/slide" Target="/ppt/slides/slide10.xml" Id="R8f9deb346a8c49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445b9a15bd40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53ae3ac4694201" /><Relationship Type="http://schemas.openxmlformats.org/officeDocument/2006/relationships/notesMaster" Target="/ppt/notesMasters/notesMaster1.xml" Id="R7c8d3707e8e947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29aef686954705" /><Relationship Type="http://schemas.openxmlformats.org/officeDocument/2006/relationships/notesMaster" Target="/ppt/notesMasters/notesMaster1.xml" Id="R7a1117c892d943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0bb3ec65924089" /><Relationship Type="http://schemas.openxmlformats.org/officeDocument/2006/relationships/notesMaster" Target="/ppt/notesMasters/notesMaster1.xml" Id="R238167bdabde4a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ce738d3f844b18" /><Relationship Type="http://schemas.openxmlformats.org/officeDocument/2006/relationships/notesMaster" Target="/ppt/notesMasters/notesMaster1.xml" Id="Re1d74ed911704e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b553ed640f4a09" /><Relationship Type="http://schemas.openxmlformats.org/officeDocument/2006/relationships/notesMaster" Target="/ppt/notesMasters/notesMaster1.xml" Id="R4c58f2207f9f4c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f5114205a64139" /><Relationship Type="http://schemas.openxmlformats.org/officeDocument/2006/relationships/notesMaster" Target="/ppt/notesMasters/notesMaster1.xml" Id="R977f3f1dcfec40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ba936d48174294" /><Relationship Type="http://schemas.openxmlformats.org/officeDocument/2006/relationships/notesMaster" Target="/ppt/notesMasters/notesMaster1.xml" Id="R95b4327d9bc943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da64e024da46f1" /><Relationship Type="http://schemas.openxmlformats.org/officeDocument/2006/relationships/notesMaster" Target="/ppt/notesMasters/notesMaster1.xml" Id="R4b994e79c14240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58aab4161045d7" /><Relationship Type="http://schemas.openxmlformats.org/officeDocument/2006/relationships/notesMaster" Target="/ppt/notesMasters/notesMaster1.xml" Id="R52be5f24b367493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1ef47bbb42455d" /><Relationship Type="http://schemas.openxmlformats.org/officeDocument/2006/relationships/notesMaster" Target="/ppt/notesMasters/notesMaster1.xml" Id="R818b10d3f04449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ClientLens reports/findings.json and reports/artifact-input.json, baseline seed 42. Independent synthetic portfolio project. See docs/METHODOLOGY.md for definitions and docs/DEMO_SCRIPT.md for delivery guidance. No real client impact or independently human-labelled evaluation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ClientLens reports/findings.json and reports/artifact-input.json, baseline seed 42. Independent synthetic portfolio project. See docs/METHODOLOGY.md for definitions and docs/DEMO_SCRIPT.md for delivery guidance. No real client impact or independently human-labelled evaluation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ClientLens reports/findings.json and reports/artifact-input.json, baseline seed 42. Independent synthetic portfolio project. See docs/METHODOLOGY.md for definitions and docs/DEMO_SCRIPT.md for delivery guidance. No real client impact or independently human-labelled evaluation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ClientLens reports/findings.json and reports/artifact-input.json, baseline seed 42. Independent synthetic portfolio project. See docs/METHODOLOGY.md for definitions and docs/DEMO_SCRIPT.md for delivery guidance. No real client impact or independently human-labelled evaluation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ClientLens reports/findings.json and reports/artifact-input.json, baseline seed 42. Independent synthetic portfolio project. See docs/METHODOLOGY.md for definitions and docs/DEMO_SCRIPT.md for delivery guidance. No real client impact or independently human-labelled evaluation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ClientLens reports/findings.json and reports/artifact-input.json, baseline seed 42. Independent synthetic portfolio project. See docs/METHODOLOGY.md for definitions and docs/DEMO_SCRIPT.md for delivery guidance. No real client impact or independently human-labelled evaluation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ClientLens reports/findings.json and reports/artifact-input.json, baseline seed 42. Independent synthetic portfolio project. See docs/METHODOLOGY.md for definitions and docs/DEMO_SCRIPT.md for delivery guidance. No real client impact or independently human-labelled evaluation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ClientLens reports/findings.json and reports/artifact-input.json, baseline seed 42. Independent synthetic portfolio project. See docs/METHODOLOGY.md for definitions and docs/DEMO_SCRIPT.md for delivery guidance. No real client impact or independently human-labelled evaluation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ClientLens reports/findings.json and reports/artifact-input.json, baseline seed 42. Independent synthetic portfolio project. See docs/METHODOLOGY.md for definitions and docs/DEMO_SCRIPT.md for delivery guidance. No real client impact or independently human-labelled evaluation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ClientLens reports/findings.json and reports/artifact-input.json, baseline seed 42. Independent synthetic portfolio project. See docs/METHODOLOGY.md for definitions and docs/DEMO_SCRIPT.md for delivery guidance. No real client impact or independently human-labelled evaluation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4d4c08abd0461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11e21e42bc456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64a11ce59c45c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fc0ee125ea42a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3b08557b22464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b85e06ee8847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5739F0-0B9D-4603-8C75-6C82A23318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98635F8-FC99-49BC-8B90-174BEF3DBB1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985AFA5-44BC-4132-B5B2-431CC828FB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EB21A4-DF42-44DA-966A-E02D5B6423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0B17583-DD05-4126-BF7B-9DB1E20D92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33AAF03-E1D2-4E3B-A4C8-AC69799922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2E8DC8E-38ED-4F32-8F70-EBD0FFAF7F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CAF48BE-2C37-4C55-A0B2-F7A8FE18F42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36E6F6A-6542-4499-8625-7A9ED3E6FF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2A73C96-7005-4DC7-9247-4B9F967BC1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4a00a856b54368" /><Relationship Type="http://schemas.openxmlformats.org/officeDocument/2006/relationships/slideLayout" Target="/ppt/slideLayouts/slideLayout1.xml" Id="Rd6920cdf19a94226" /><Relationship Type="http://schemas.openxmlformats.org/officeDocument/2006/relationships/slideLayout" Target="/ppt/slideLayouts/slideLayout2.xml" Id="R5b69efd02dc146f9" /><Relationship Type="http://schemas.openxmlformats.org/officeDocument/2006/relationships/slideLayout" Target="/ppt/slideLayouts/slideLayout3.xml" Id="R545a4b4fa7554d8f" /><Relationship Type="http://schemas.openxmlformats.org/officeDocument/2006/relationships/slideLayout" Target="/ppt/slideLayouts/slideLayout4.xml" Id="R86184fe8ae684c02" /><Relationship Type="http://schemas.openxmlformats.org/officeDocument/2006/relationships/slideLayout" Target="/ppt/slideLayouts/slideLayout5.xml" Id="Re78fb895a60a420d" /><Relationship Type="http://schemas.openxmlformats.org/officeDocument/2006/relationships/slideLayout" Target="/ppt/slideLayouts/slideLayout6.xml" Id="R6bf3fb91ad894b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920cdf19a94226"/>
    <p:sldLayoutId xmlns:r="http://schemas.openxmlformats.org/officeDocument/2006/relationships" id="2147483650" r:id="R5b69efd02dc146f9"/>
    <p:sldLayoutId xmlns:r="http://schemas.openxmlformats.org/officeDocument/2006/relationships" id="2147483651" r:id="R545a4b4fa7554d8f"/>
    <p:sldLayoutId xmlns:r="http://schemas.openxmlformats.org/officeDocument/2006/relationships" id="2147483652" r:id="R86184fe8ae684c02"/>
    <p:sldLayoutId xmlns:r="http://schemas.openxmlformats.org/officeDocument/2006/relationships" id="2147483653" r:id="Re78fb895a60a420d"/>
    <p:sldLayoutId xmlns:r="http://schemas.openxmlformats.org/officeDocument/2006/relationships" id="2147483654" r:id="R6bf3fb91ad894b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5aaaf2d2584a3c" /><Relationship Type="http://schemas.openxmlformats.org/officeDocument/2006/relationships/notesSlide" Target="/ppt/notesSlides/notesSlide1.xml" Id="Rd4860c6c30db4c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83409824bd4984" /><Relationship Type="http://schemas.openxmlformats.org/officeDocument/2006/relationships/notesSlide" Target="/ppt/notesSlides/notesSlide2.xml" Id="R83e094a26d5f41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0a369e09124884" /><Relationship Type="http://schemas.openxmlformats.org/officeDocument/2006/relationships/notesSlide" Target="/ppt/notesSlides/notesSlide3.xml" Id="R0743207f3a2e40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ec7c3e97364af0" /><Relationship Type="http://schemas.openxmlformats.org/officeDocument/2006/relationships/notesSlide" Target="/ppt/notesSlides/notesSlide4.xml" Id="Rae7bf63bd6fd4d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3ff1e61ba34116" /><Relationship Type="http://schemas.openxmlformats.org/officeDocument/2006/relationships/notesSlide" Target="/ppt/notesSlides/notesSlide5.xml" Id="Rfd2a72b4bcf048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d55b14dc654444" /><Relationship Type="http://schemas.openxmlformats.org/officeDocument/2006/relationships/notesSlide" Target="/ppt/notesSlides/notesSlide6.xml" Id="R2069ff30649b43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4bc499718b431a" /><Relationship Type="http://schemas.openxmlformats.org/officeDocument/2006/relationships/notesSlide" Target="/ppt/notesSlides/notesSlide7.xml" Id="R4a1634ffdd0a4e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58917bf0ac4f5d" /><Relationship Type="http://schemas.openxmlformats.org/officeDocument/2006/relationships/notesSlide" Target="/ppt/notesSlides/notesSlide8.xml" Id="Rb9a4091bce2348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7952fc54354cde" /><Relationship Type="http://schemas.openxmlformats.org/officeDocument/2006/relationships/notesSlide" Target="/ppt/notesSlides/notesSlide9.xml" Id="R6fe3ced08c53453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28d3f50ed044f9" /><Relationship Type="http://schemas.openxmlformats.org/officeDocument/2006/relationships/notesSlide" Target="/ppt/notesSlides/notesSlide10.xml" Id="Re26c779e98f745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D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7D2421-E306-42D7-B787-4820A979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7FD0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7FD0C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D0C2"/>
                </a:solidFill>
                <a:latin typeface="Arial"/>
                <a:ea typeface="Arial"/>
                <a:cs typeface="Arial"/>
              </a:rPr>
              <a:t>CLIENTLENS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D21208-CC89-428F-924C-C79701BB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7810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Client engagement, demand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renewal analytics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9CC7F0-8ED2-4DF1-909F-7B9102FA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7429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D5E4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D5E4E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5E4E6"/>
                </a:solidFill>
                <a:latin typeface="Arial"/>
                <a:ea typeface="Arial"/>
                <a:cs typeface="Arial"/>
              </a:rPr>
              <a:t>An independent portfolio demonstration</a:t>
            </a:r>
          </a:p>
          <a:p xmlns:a="http://schemas.openxmlformats.org/drawingml/2006/main">
            <a:pPr>
              <a:defRPr sz="1875" b="0">
                <a:solidFill>
                  <a:srgbClr val="D5E4E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5E4E6"/>
                </a:solidFill>
                <a:latin typeface="Arial"/>
                <a:ea typeface="Arial"/>
                <a:cs typeface="Arial"/>
              </a:rPr>
              <a:t>Synthetic data and fictional clients</a:t>
            </a:r>
          </a:p>
          <a:p xmlns:a="http://schemas.openxmlformats.org/drawingml/2006/main">
            <a:pPr>
              <a:defRPr sz="1875" b="0">
                <a:solidFill>
                  <a:srgbClr val="D5E4E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5E4E6"/>
                </a:solidFill>
                <a:latin typeface="Arial"/>
                <a:ea typeface="Arial"/>
                <a:cs typeface="Arial"/>
              </a:rPr>
              <a:t>No Gartner affiliation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DD3D22-B577-4889-85C9-F967152D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095625"/>
            <a:ext cx="2952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CDB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8CDBC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CDBCD"/>
                </a:solidFill>
                <a:latin typeface="Arial"/>
                <a:ea typeface="Arial"/>
                <a:cs typeface="Arial"/>
              </a:rPr>
              <a:t>A reviewable decision</a:t>
            </a:r>
          </a:p>
          <a:p xmlns:a="http://schemas.openxmlformats.org/drawingml/2006/main">
            <a:pPr>
              <a:defRPr sz="2025" b="1">
                <a:solidFill>
                  <a:srgbClr val="8CDBC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CDBCD"/>
                </a:solidFill>
                <a:latin typeface="Arial"/>
                <a:ea typeface="Arial"/>
                <a:cs typeface="Arial"/>
              </a:rPr>
              <a:t>60 days before renewal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869F96-E8AF-4779-9C57-8CA76F84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B9CBD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B9CBD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9CBD0"/>
                </a:solidFill>
                <a:latin typeface="Arial"/>
                <a:ea typeface="Arial"/>
                <a:cs typeface="Arial"/>
              </a:rPr>
              <a:t>Synthetic data. Portfolio demonstration. Independent project.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7A70AD-927F-4D16-8562-98D38DBB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1D5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1D5D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1D5D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847789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E0CA1-55D1-47FB-A792-4D82F8BA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77F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77F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77F78"/>
                </a:solidFill>
                <a:latin typeface="Arial"/>
                <a:ea typeface="Arial"/>
                <a:cs typeface="Arial"/>
              </a:rPr>
              <a:t>01  /  BUSINESS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44CC70-831D-4980-B14A-FA7145BE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7810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35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54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542"/>
                </a:solidFill>
                <a:latin typeface="Arial"/>
                <a:ea typeface="Arial"/>
                <a:cs typeface="Arial"/>
              </a:rPr>
              <a:t>Which accounts deserve</a:t>
            </a:r>
          </a:p>
          <a:p xmlns:a="http://schemas.openxmlformats.org/drawingml/2006/main">
            <a:pPr>
              <a:defRPr sz="3600" b="1">
                <a:solidFill>
                  <a:srgbClr val="17354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542"/>
                </a:solidFill>
                <a:latin typeface="Arial"/>
                <a:ea typeface="Arial"/>
                <a:cs typeface="Arial"/>
              </a:rPr>
              <a:t>a closer look?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2DBF6D-D9C7-4A1D-99E3-14371EA9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7429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B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26B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73"/>
                </a:solidFill>
                <a:latin typeface="Arial"/>
                <a:ea typeface="Arial"/>
                <a:cs typeface="Arial"/>
              </a:rPr>
              <a:t>A fictional research subscription team can review</a:t>
            </a:r>
          </a:p>
          <a:p xmlns:a="http://schemas.openxmlformats.org/drawingml/2006/main">
            <a:pPr>
              <a:defRPr sz="1875" b="0">
                <a:solidFill>
                  <a:srgbClr val="526B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73"/>
                </a:solidFill>
                <a:latin typeface="Arial"/>
                <a:ea typeface="Arial"/>
                <a:cs typeface="Arial"/>
              </a:rPr>
              <a:t>50 accounts per monthly renewal cohort.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526B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73"/>
                </a:solidFill>
                <a:latin typeface="Arial"/>
                <a:ea typeface="Arial"/>
                <a:cs typeface="Arial"/>
              </a:rPr>
              <a:t>The workflow connects usage, requests and support</a:t>
            </a:r>
          </a:p>
          <a:p xmlns:a="http://schemas.openxmlformats.org/drawingml/2006/main">
            <a:pPr>
              <a:defRPr sz="1875" b="0">
                <a:solidFill>
                  <a:srgbClr val="526B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73"/>
                </a:solidFill>
                <a:latin typeface="Arial"/>
                <a:ea typeface="Arial"/>
                <a:cs typeface="Arial"/>
              </a:rPr>
              <a:t>to explainable investigations.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1BB9F9-2A3B-4B29-94DB-E671ABCF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095625"/>
            <a:ext cx="2952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A7E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A7E7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A7E78"/>
                </a:solidFill>
                <a:latin typeface="Arial"/>
                <a:ea typeface="Arial"/>
                <a:cs typeface="Arial"/>
              </a:rPr>
              <a:t>50</a:t>
            </a:r>
          </a:p>
          <a:p xmlns:a="http://schemas.openxmlformats.org/drawingml/2006/main">
            <a:pPr>
              <a:defRPr sz="2025" b="1">
                <a:solidFill>
                  <a:srgbClr val="1A7E7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A7E78"/>
                </a:solidFill>
                <a:latin typeface="Arial"/>
                <a:ea typeface="Arial"/>
                <a:cs typeface="Arial"/>
              </a:rPr>
              <a:t>monthly reviews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A0AC02-335F-4F3E-9A1F-7812B91B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185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1858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1858A"/>
                </a:solidFill>
                <a:latin typeface="Arial"/>
                <a:ea typeface="Arial"/>
                <a:cs typeface="Arial"/>
              </a:rPr>
              <a:t>Synthetic data. Portfolio demonstration. Independent project.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4B3950-1F1E-4CF0-A1DE-C6BAC412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185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185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858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096489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0F603F-BB2B-4DFB-8276-748590EB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77F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77F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77F78"/>
                </a:solidFill>
                <a:latin typeface="Arial"/>
                <a:ea typeface="Arial"/>
                <a:cs typeface="Arial"/>
              </a:rPr>
              <a:t>02  /  ROLE RELEVANCE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553CE0-77F2-4392-8479-CE19E9D9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7810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35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54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542"/>
                </a:solidFill>
                <a:latin typeface="Arial"/>
                <a:ea typeface="Arial"/>
                <a:cs typeface="Arial"/>
              </a:rPr>
              <a:t>Analysis that a beginner</a:t>
            </a:r>
          </a:p>
          <a:p xmlns:a="http://schemas.openxmlformats.org/drawingml/2006/main">
            <a:pPr>
              <a:defRPr sz="3600" b="1">
                <a:solidFill>
                  <a:srgbClr val="17354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542"/>
                </a:solidFill>
                <a:latin typeface="Arial"/>
                <a:ea typeface="Arial"/>
                <a:cs typeface="Arial"/>
              </a:rPr>
              <a:t>can explain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79BD06-675C-448C-8AB9-C501FF10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7429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B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26B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73"/>
                </a:solidFill>
                <a:latin typeface="Arial"/>
                <a:ea typeface="Arial"/>
                <a:cs typeface="Arial"/>
              </a:rPr>
              <a:t>SQL and Python for reproducible analysis</a:t>
            </a:r>
          </a:p>
          <a:p xmlns:a="http://schemas.openxmlformats.org/drawingml/2006/main">
            <a:pPr>
              <a:defRPr sz="1875" b="0">
                <a:solidFill>
                  <a:srgbClr val="526B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73"/>
                </a:solidFill>
                <a:latin typeface="Arial"/>
                <a:ea typeface="Arial"/>
                <a:cs typeface="Arial"/>
              </a:rPr>
              <a:t>Qualitative requests alongside quantitative usage</a:t>
            </a:r>
          </a:p>
          <a:p xmlns:a="http://schemas.openxmlformats.org/drawingml/2006/main">
            <a:pPr>
              <a:defRPr sz="1875" b="0">
                <a:solidFill>
                  <a:srgbClr val="526B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73"/>
                </a:solidFill>
                <a:latin typeface="Arial"/>
                <a:ea typeface="Arial"/>
                <a:cs typeface="Arial"/>
              </a:rPr>
              <a:t>Evaluated classification and clear communication</a:t>
            </a:r>
          </a:p>
          <a:p xmlns:a="http://schemas.openxmlformats.org/drawingml/2006/main">
            <a:pPr>
              <a:defRPr sz="1875" b="0">
                <a:solidFill>
                  <a:srgbClr val="526B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73"/>
                </a:solidFill>
                <a:latin typeface="Arial"/>
                <a:ea typeface="Arial"/>
                <a:cs typeface="Arial"/>
              </a:rPr>
              <a:t>Excel reconciliation and an honest review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8FDA21-E515-4B07-9C15-C076CA70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095625"/>
            <a:ext cx="2952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A7E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A7E7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A7E78"/>
                </a:solidFill>
                <a:latin typeface="Arial"/>
                <a:ea typeface="Arial"/>
                <a:cs typeface="Arial"/>
              </a:rPr>
              <a:t>Practice evidence</a:t>
            </a:r>
          </a:p>
          <a:p xmlns:a="http://schemas.openxmlformats.org/drawingml/2006/main">
            <a:pPr>
              <a:defRPr sz="2025" b="1">
                <a:solidFill>
                  <a:srgbClr val="1A7E7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A7E78"/>
                </a:solidFill>
                <a:latin typeface="Arial"/>
                <a:ea typeface="Arial"/>
                <a:cs typeface="Arial"/>
              </a:rPr>
              <a:t>Personal ownership and peer</a:t>
            </a:r>
          </a:p>
          <a:p xmlns:a="http://schemas.openxmlformats.org/drawingml/2006/main">
            <a:pPr>
              <a:defRPr sz="2025" b="1">
                <a:solidFill>
                  <a:srgbClr val="1A7E7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A7E78"/>
                </a:solidFill>
                <a:latin typeface="Arial"/>
                <a:ea typeface="Arial"/>
                <a:cs typeface="Arial"/>
              </a:rPr>
              <a:t>feedback still need completion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EA2853-86F5-4FCF-884A-636BD289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185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1858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1858A"/>
                </a:solidFill>
                <a:latin typeface="Arial"/>
                <a:ea typeface="Arial"/>
                <a:cs typeface="Arial"/>
              </a:rPr>
              <a:t>Synthetic data. Portfolio demonstration. Independent project.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42928C-08D0-45AC-9F91-7030E9AA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185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185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858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571242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05E4BF-46D2-461E-97C0-2D673825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77F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77F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77F78"/>
                </a:solidFill>
                <a:latin typeface="Arial"/>
                <a:ea typeface="Arial"/>
                <a:cs typeface="Arial"/>
              </a:rPr>
              <a:t>03  /  SOURCES AND METHODS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BECCB7-BF96-4DA3-AA0A-89C21D58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7810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35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54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542"/>
                </a:solidFill>
                <a:latin typeface="Arial"/>
                <a:ea typeface="Arial"/>
                <a:cs typeface="Arial"/>
              </a:rPr>
              <a:t>One account row,</a:t>
            </a:r>
          </a:p>
          <a:p xmlns:a="http://schemas.openxmlformats.org/drawingml/2006/main">
            <a:pPr>
              <a:defRPr sz="3600" b="1">
                <a:solidFill>
                  <a:srgbClr val="17354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542"/>
                </a:solidFill>
                <a:latin typeface="Arial"/>
                <a:ea typeface="Arial"/>
                <a:cs typeface="Arial"/>
              </a:rPr>
              <a:t>with traceable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FD5D8C-BC7C-4DBE-9D7A-5A3E31C6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7429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B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26B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73"/>
                </a:solidFill>
                <a:latin typeface="Arial"/>
                <a:ea typeface="Arial"/>
                <a:cs typeface="Arial"/>
              </a:rPr>
              <a:t>2,000 accounts across 24 monthly cohorts</a:t>
            </a:r>
          </a:p>
          <a:p xmlns:a="http://schemas.openxmlformats.org/drawingml/2006/main">
            <a:pPr>
              <a:defRPr sz="1875" b="0">
                <a:solidFill>
                  <a:srgbClr val="526B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73"/>
                </a:solidFill>
                <a:latin typeface="Arial"/>
                <a:ea typeface="Arial"/>
                <a:cs typeface="Arial"/>
              </a:rPr>
              <a:t>100,000 generated engagement events</a:t>
            </a:r>
          </a:p>
          <a:p xmlns:a="http://schemas.openxmlformats.org/drawingml/2006/main">
            <a:pPr>
              <a:defRPr sz="1875" b="0">
                <a:solidFill>
                  <a:srgbClr val="526B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73"/>
                </a:solidFill>
                <a:latin typeface="Arial"/>
                <a:ea typeface="Arial"/>
                <a:cs typeface="Arial"/>
              </a:rPr>
              <a:t>1,800 written requests and 1,118 support tickets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526B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73"/>
                </a:solidFill>
                <a:latin typeface="Arial"/>
                <a:ea typeface="Arial"/>
                <a:cs typeface="Arial"/>
              </a:rPr>
              <a:t>DuckDB aggregates each fact before joining.</a:t>
            </a:r>
          </a:p>
          <a:p xmlns:a="http://schemas.openxmlformats.org/drawingml/2006/main">
            <a:pPr>
              <a:defRPr sz="1875" b="0">
                <a:solidFill>
                  <a:srgbClr val="526B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73"/>
                </a:solidFill>
                <a:latin typeface="Arial"/>
                <a:ea typeface="Arial"/>
                <a:cs typeface="Arial"/>
              </a:rPr>
              <a:t>React and FastAPI make the evidence explorable.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1FB4A8-83DB-4F48-BD94-9D2E3049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095625"/>
            <a:ext cx="2952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A7E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A7E7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A7E78"/>
                </a:solidFill>
                <a:latin typeface="Arial"/>
                <a:ea typeface="Arial"/>
                <a:cs typeface="Arial"/>
              </a:rPr>
              <a:t>Fixed seed 42</a:t>
            </a:r>
          </a:p>
          <a:p xmlns:a="http://schemas.openxmlformats.org/drawingml/2006/main">
            <a:pPr>
              <a:defRPr sz="2025" b="1">
                <a:solidFill>
                  <a:srgbClr val="1A7E7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A7E78"/>
                </a:solidFill>
                <a:latin typeface="Arial"/>
                <a:ea typeface="Arial"/>
                <a:cs typeface="Arial"/>
              </a:rPr>
              <a:t>Generator relationships</a:t>
            </a:r>
          </a:p>
          <a:p xmlns:a="http://schemas.openxmlformats.org/drawingml/2006/main">
            <a:pPr>
              <a:defRPr sz="2025" b="1">
                <a:solidFill>
                  <a:srgbClr val="1A7E7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A7E78"/>
                </a:solidFill>
                <a:latin typeface="Arial"/>
                <a:ea typeface="Arial"/>
                <a:cs typeface="Arial"/>
              </a:rPr>
              <a:t>are educational assumptions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30A2F4-E6FD-44D1-89D7-352DFA39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185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1858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1858A"/>
                </a:solidFill>
                <a:latin typeface="Arial"/>
                <a:ea typeface="Arial"/>
                <a:cs typeface="Arial"/>
              </a:rPr>
              <a:t>Synthetic data. Portfolio demonstration. Independent project.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F67988-5DF7-4C0A-9FD8-F460E546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185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185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858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796469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ECACF9-2C75-45F0-BCCE-DB2843D3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77F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77F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77F78"/>
                </a:solidFill>
                <a:latin typeface="Arial"/>
                <a:ea typeface="Arial"/>
                <a:cs typeface="Arial"/>
              </a:rPr>
              <a:t>04  /  QUALITY AND TIMING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DAA3C8-5541-4FE8-9087-5B483570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7810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35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54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542"/>
                </a:solidFill>
                <a:latin typeface="Arial"/>
                <a:ea typeface="Arial"/>
                <a:cs typeface="Arial"/>
              </a:rPr>
              <a:t>Only information known</a:t>
            </a:r>
          </a:p>
          <a:p xmlns:a="http://schemas.openxmlformats.org/drawingml/2006/main">
            <a:pPr>
              <a:defRPr sz="3600" b="1">
                <a:solidFill>
                  <a:srgbClr val="17354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542"/>
                </a:solidFill>
                <a:latin typeface="Arial"/>
                <a:ea typeface="Arial"/>
                <a:cs typeface="Arial"/>
              </a:rPr>
              <a:t>at the scoring cutoff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8ED3B1-C47D-4E9E-93E0-CD64EC78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7429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B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26B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73"/>
                </a:solidFill>
                <a:latin typeface="Arial"/>
                <a:ea typeface="Arial"/>
                <a:cs typeface="Arial"/>
              </a:rPr>
              <a:t>56 of 56 injected anomalies detected</a:t>
            </a:r>
          </a:p>
          <a:p xmlns:a="http://schemas.openxmlformats.org/drawingml/2006/main">
            <a:pPr>
              <a:defRPr sz="1875" b="0">
                <a:solidFill>
                  <a:srgbClr val="526B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73"/>
                </a:solidFill>
                <a:latin typeface="Arial"/>
                <a:ea typeface="Arial"/>
                <a:cs typeface="Arial"/>
              </a:rPr>
              <a:t>40 rows quarantined with retained reasons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526B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73"/>
                </a:solidFill>
                <a:latin typeface="Arial"/>
                <a:ea typeface="Arial"/>
                <a:cs typeface="Arial"/>
              </a:rPr>
              <a:t>Both occurrence and availability govern inclusion.</a:t>
            </a:r>
          </a:p>
          <a:p xmlns:a="http://schemas.openxmlformats.org/drawingml/2006/main">
            <a:pPr>
              <a:defRPr sz="1875" b="0">
                <a:solidFill>
                  <a:srgbClr val="526B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73"/>
                </a:solidFill>
                <a:latin typeface="Arial"/>
                <a:ea typeface="Arial"/>
                <a:cs typeface="Arial"/>
              </a:rPr>
              <a:t>Future ticket closures remain open at cutoff.</a:t>
            </a:r>
          </a:p>
          <a:p xmlns:a="http://schemas.openxmlformats.org/drawingml/2006/main">
            <a:pPr>
              <a:defRPr sz="1875" b="0">
                <a:solidFill>
                  <a:srgbClr val="526B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73"/>
                </a:solidFill>
                <a:latin typeface="Arial"/>
                <a:ea typeface="Arial"/>
                <a:cs typeface="Arial"/>
              </a:rPr>
              <a:t>Unknown outcomes remain unknown.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C3320B-B69E-43D4-B3FA-F7BB745F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095625"/>
            <a:ext cx="2952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A7E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A7E7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A7E78"/>
                </a:solidFill>
                <a:latin typeface="Arial"/>
                <a:ea typeface="Arial"/>
                <a:cs typeface="Arial"/>
              </a:rPr>
              <a:t>T = renewal −60 days</a:t>
            </a:r>
          </a:p>
          <a:p xmlns:a="http://schemas.openxmlformats.org/drawingml/2006/main">
            <a:pPr>
              <a:defRPr sz="2025" b="1">
                <a:solidFill>
                  <a:srgbClr val="1A7E7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A7E78"/>
                </a:solidFill>
                <a:latin typeface="Arial"/>
                <a:ea typeface="Arial"/>
                <a:cs typeface="Arial"/>
              </a:rPr>
              <a:t>Recent: [T−30, T)</a:t>
            </a:r>
          </a:p>
          <a:p xmlns:a="http://schemas.openxmlformats.org/drawingml/2006/main">
            <a:pPr>
              <a:defRPr sz="2025" b="1">
                <a:solidFill>
                  <a:srgbClr val="1A7E7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A7E78"/>
                </a:solidFill>
                <a:latin typeface="Arial"/>
                <a:ea typeface="Arial"/>
                <a:cs typeface="Arial"/>
              </a:rPr>
              <a:t>Previous: [T−60, T−30)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037C05-C881-41B0-8DC6-408DDEA6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185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1858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1858A"/>
                </a:solidFill>
                <a:latin typeface="Arial"/>
                <a:ea typeface="Arial"/>
                <a:cs typeface="Arial"/>
              </a:rPr>
              <a:t>Synthetic data. Portfolio demonstration. Independent project.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41FB78-2440-48D4-B609-85CA26BD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185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185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858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010626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E141F9-F5E6-481C-B361-144BEA7A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77F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77F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77F78"/>
                </a:solidFill>
                <a:latin typeface="Arial"/>
                <a:ea typeface="Arial"/>
                <a:cs typeface="Arial"/>
              </a:rPr>
              <a:t>05  /  ACTUAL FINDINGS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22BC9C-0406-48F4-937C-D78C9619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7810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35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54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542"/>
                </a:solidFill>
                <a:latin typeface="Arial"/>
                <a:ea typeface="Arial"/>
                <a:cs typeface="Arial"/>
              </a:rPr>
              <a:t>The rule adds modest</a:t>
            </a:r>
          </a:p>
          <a:p xmlns:a="http://schemas.openxmlformats.org/drawingml/2006/main">
            <a:pPr>
              <a:defRPr sz="3600" b="1">
                <a:solidFill>
                  <a:srgbClr val="17354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542"/>
                </a:solidFill>
                <a:latin typeface="Arial"/>
                <a:ea typeface="Arial"/>
                <a:cs typeface="Arial"/>
              </a:rPr>
              <a:t>ranking separation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C3D83C-BEDE-4CC5-98FD-2BF34D97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7429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B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26B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73"/>
                </a:solidFill>
                <a:latin typeface="Arial"/>
                <a:ea typeface="Arial"/>
                <a:cs typeface="Arial"/>
              </a:rPr>
              <a:t>Future test cohorts: August–December 2025</a:t>
            </a:r>
          </a:p>
          <a:p xmlns:a="http://schemas.openxmlformats.org/drawingml/2006/main">
            <a:pPr>
              <a:defRPr sz="1875" b="0">
                <a:solidFill>
                  <a:srgbClr val="526B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73"/>
                </a:solidFill>
                <a:latin typeface="Arial"/>
                <a:ea typeface="Arial"/>
                <a:cs typeface="Arial"/>
              </a:rPr>
              <a:t>415 accounts, 394 resolved outcomes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526B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73"/>
                </a:solidFill>
                <a:latin typeface="Arial"/>
                <a:ea typeface="Arial"/>
                <a:cs typeface="Arial"/>
              </a:rPr>
              <a:t>Rule: 166/235 selected resolved non-renewals</a:t>
            </a:r>
          </a:p>
          <a:p xmlns:a="http://schemas.openxmlformats.org/drawingml/2006/main">
            <a:pPr>
              <a:defRPr sz="1875" b="0">
                <a:solidFill>
                  <a:srgbClr val="526B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73"/>
                </a:solidFill>
                <a:latin typeface="Arial"/>
                <a:ea typeface="Arial"/>
                <a:cs typeface="Arial"/>
              </a:rPr>
              <a:t>Random: 162/236</a:t>
            </a:r>
          </a:p>
          <a:p xmlns:a="http://schemas.openxmlformats.org/drawingml/2006/main">
            <a:pPr>
              <a:defRPr sz="1875" b="0">
                <a:solidFill>
                  <a:srgbClr val="526B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73"/>
                </a:solidFill>
                <a:latin typeface="Arial"/>
                <a:ea typeface="Arial"/>
                <a:cs typeface="Arial"/>
              </a:rPr>
              <a:t>Pending selected: 15 rule, 14 random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61D5ED-CBF6-4767-89F5-9A7F6455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095625"/>
            <a:ext cx="2952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A7E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A7E7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A7E78"/>
                </a:solidFill>
                <a:latin typeface="Arial"/>
                <a:ea typeface="Arial"/>
                <a:cs typeface="Arial"/>
              </a:rPr>
              <a:t>70.6% rule</a:t>
            </a:r>
          </a:p>
          <a:p xmlns:a="http://schemas.openxmlformats.org/drawingml/2006/main">
            <a:pPr>
              <a:defRPr sz="2025" b="1">
                <a:solidFill>
                  <a:srgbClr val="1A7E7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A7E78"/>
                </a:solidFill>
                <a:latin typeface="Arial"/>
                <a:ea typeface="Arial"/>
                <a:cs typeface="Arial"/>
              </a:rPr>
              <a:t>68.6% random</a:t>
            </a:r>
          </a:p>
          <a:p xmlns:a="http://schemas.openxmlformats.org/drawingml/2006/main">
            <a:pPr>
              <a:defRPr sz="2025" b="1">
                <a:solidFill>
                  <a:srgbClr val="1A7E7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A7E78"/>
                </a:solidFill>
                <a:latin typeface="Arial"/>
                <a:ea typeface="Arial"/>
                <a:cs typeface="Arial"/>
              </a:rPr>
              <a:t>Precision at monthly K≤50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79D185-5525-4581-BEB1-15F11316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185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1858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1858A"/>
                </a:solidFill>
                <a:latin typeface="Arial"/>
                <a:ea typeface="Arial"/>
                <a:cs typeface="Arial"/>
              </a:rPr>
              <a:t>Synthetic data. Portfolio demonstration. Independent project.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4212EF-E8B5-4F53-A69A-12BCA186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185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185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858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220453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10F433-D940-4FEE-B20E-1843F78A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77F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77F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77F78"/>
                </a:solidFill>
                <a:latin typeface="Arial"/>
                <a:ea typeface="Arial"/>
                <a:cs typeface="Arial"/>
              </a:rPr>
              <a:t>06  /  CLASSIFICATION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ACD1E4-C1DD-403C-BA69-CD15693F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7810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35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54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542"/>
                </a:solidFill>
                <a:latin typeface="Arial"/>
                <a:ea typeface="Arial"/>
                <a:cs typeface="Arial"/>
              </a:rPr>
              <a:t>The text baseline needs</a:t>
            </a:r>
          </a:p>
          <a:p xmlns:a="http://schemas.openxmlformats.org/drawingml/2006/main">
            <a:pPr>
              <a:defRPr sz="3600" b="1">
                <a:solidFill>
                  <a:srgbClr val="17354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542"/>
                </a:solidFill>
                <a:latin typeface="Arial"/>
                <a:ea typeface="Arial"/>
                <a:cs typeface="Arial"/>
              </a:rPr>
              <a:t>independent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62D279-9067-4F45-AD96-4F97C0D8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7429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B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26B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73"/>
                </a:solidFill>
                <a:latin typeface="Arial"/>
                <a:ea typeface="Arial"/>
                <a:cs typeface="Arial"/>
              </a:rPr>
              <a:t>1058 held-out generator-labelled examples</a:t>
            </a:r>
          </a:p>
          <a:p xmlns:a="http://schemas.openxmlformats.org/drawingml/2006/main">
            <a:pPr>
              <a:defRPr sz="1875" b="0">
                <a:solidFill>
                  <a:srgbClr val="526B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73"/>
                </a:solidFill>
                <a:latin typeface="Arial"/>
                <a:ea typeface="Arial"/>
                <a:cs typeface="Arial"/>
              </a:rPr>
              <a:t>100.0% macro-F1 on finite synthetic templates</a:t>
            </a:r>
          </a:p>
          <a:p xmlns:a="http://schemas.openxmlformats.org/drawingml/2006/main">
            <a:pPr>
              <a:defRPr sz="1875" b="0">
                <a:solidFill>
                  <a:srgbClr val="526B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73"/>
                </a:solidFill>
                <a:latin typeface="Arial"/>
                <a:ea typeface="Arial"/>
                <a:cs typeface="Arial"/>
              </a:rPr>
              <a:t>74.3% coverage, 25.7% abstention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526B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73"/>
                </a:solidFill>
                <a:latin typeface="Arial"/>
                <a:ea typeface="Arial"/>
                <a:cs typeface="Arial"/>
              </a:rPr>
              <a:t>This perfect template result does not establish</a:t>
            </a:r>
          </a:p>
          <a:p xmlns:a="http://schemas.openxmlformats.org/drawingml/2006/main">
            <a:pPr>
              <a:defRPr sz="1875" b="0">
                <a:solidFill>
                  <a:srgbClr val="526B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73"/>
                </a:solidFill>
                <a:latin typeface="Arial"/>
                <a:ea typeface="Arial"/>
                <a:cs typeface="Arial"/>
              </a:rPr>
              <a:t>accuracy on natural client requests.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93407A-8154-49E1-9C0A-7324DEB5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095625"/>
            <a:ext cx="2952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A7E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A7E7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A7E78"/>
                </a:solidFill>
                <a:latin typeface="Arial"/>
                <a:ea typeface="Arial"/>
                <a:cs typeface="Arial"/>
              </a:rPr>
              <a:t>LLM not run</a:t>
            </a:r>
          </a:p>
          <a:p xmlns:a="http://schemas.openxmlformats.org/drawingml/2006/main">
            <a:pPr>
              <a:defRPr sz="2025" b="1">
                <a:solidFill>
                  <a:srgbClr val="1A7E7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A7E78"/>
                </a:solidFill>
                <a:latin typeface="Arial"/>
                <a:ea typeface="Arial"/>
                <a:cs typeface="Arial"/>
              </a:rPr>
              <a:t>Provider adapter implemented</a:t>
            </a:r>
          </a:p>
          <a:p xmlns:a="http://schemas.openxmlformats.org/drawingml/2006/main">
            <a:pPr>
              <a:defRPr sz="2025" b="1">
                <a:solidFill>
                  <a:srgbClr val="1A7E7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A7E78"/>
                </a:solidFill>
                <a:latin typeface="Arial"/>
                <a:ea typeface="Arial"/>
                <a:cs typeface="Arial"/>
              </a:rPr>
              <a:t>Human annotation pending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52065-66EC-47C1-9713-A6DA068B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185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1858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1858A"/>
                </a:solidFill>
                <a:latin typeface="Arial"/>
                <a:ea typeface="Arial"/>
                <a:cs typeface="Arial"/>
              </a:rPr>
              <a:t>Synthetic data. Portfolio demonstration. Independent project.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B05D84-5E88-41CE-8EAD-817B4056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185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185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858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816016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F07F19-49A5-4DA0-8FF6-EE4E57C6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77F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77F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77F78"/>
                </a:solidFill>
                <a:latin typeface="Arial"/>
                <a:ea typeface="Arial"/>
                <a:cs typeface="Arial"/>
              </a:rPr>
              <a:t>07  /  REVIEW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3F3DDA-D555-4E09-95B2-60005D64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7810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35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54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542"/>
                </a:solidFill>
                <a:latin typeface="Arial"/>
                <a:ea typeface="Arial"/>
                <a:cs typeface="Arial"/>
              </a:rPr>
              <a:t>Every review starts</a:t>
            </a:r>
          </a:p>
          <a:p xmlns:a="http://schemas.openxmlformats.org/drawingml/2006/main">
            <a:pPr>
              <a:defRPr sz="3600" b="1">
                <a:solidFill>
                  <a:srgbClr val="17354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542"/>
                </a:solidFill>
                <a:latin typeface="Arial"/>
                <a:ea typeface="Arial"/>
                <a:cs typeface="Arial"/>
              </a:rPr>
              <a:t>with the underlying signals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EB79D2-7DC5-4525-A7B6-2605BF3A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7429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B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26B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73"/>
                </a:solidFill>
                <a:latin typeface="Arial"/>
                <a:ea typeface="Arial"/>
                <a:cs typeface="Arial"/>
              </a:rPr>
              <a:t>Filter a renewal cohort and choose capacity.</a:t>
            </a:r>
          </a:p>
          <a:p xmlns:a="http://schemas.openxmlformats.org/drawingml/2006/main">
            <a:pPr>
              <a:defRPr sz="1875" b="0">
                <a:solidFill>
                  <a:srgbClr val="526B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73"/>
                </a:solidFill>
                <a:latin typeface="Arial"/>
                <a:ea typeface="Arial"/>
                <a:cs typeface="Arial"/>
              </a:rPr>
              <a:t>Open an account to inspect timestamps and reasons.</a:t>
            </a:r>
          </a:p>
          <a:p xmlns:a="http://schemas.openxmlformats.org/drawingml/2006/main">
            <a:pPr>
              <a:defRPr sz="1875" b="0">
                <a:solidFill>
                  <a:srgbClr val="526B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73"/>
                </a:solidFill>
                <a:latin typeface="Arial"/>
                <a:ea typeface="Arial"/>
                <a:cs typeface="Arial"/>
              </a:rPr>
              <a:t>Compare requested topics with matching content use.</a:t>
            </a:r>
          </a:p>
          <a:p xmlns:a="http://schemas.openxmlformats.org/drawingml/2006/main">
            <a:pPr>
              <a:defRPr sz="1875" b="0">
                <a:solidFill>
                  <a:srgbClr val="526B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73"/>
                </a:solidFill>
                <a:latin typeface="Arial"/>
                <a:ea typeface="Arial"/>
                <a:cs typeface="Arial"/>
              </a:rPr>
              <a:t>Save a local investigation status or export the queue.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526B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73"/>
                </a:solidFill>
                <a:latin typeface="Arial"/>
                <a:ea typeface="Arial"/>
                <a:cs typeface="Arial"/>
              </a:rPr>
              <a:t>Future outcomes appear only in Validation.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D7BDA7-6234-4E76-88DE-59414E0F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095625"/>
            <a:ext cx="2952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A7E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A7E7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A7E78"/>
                </a:solidFill>
                <a:latin typeface="Arial"/>
                <a:ea typeface="Arial"/>
                <a:cs typeface="Arial"/>
              </a:rPr>
              <a:t>Exposure ≠ savings</a:t>
            </a:r>
          </a:p>
          <a:p xmlns:a="http://schemas.openxmlformats.org/drawingml/2006/main">
            <a:pPr>
              <a:defRPr sz="2025" b="1">
                <a:solidFill>
                  <a:srgbClr val="1A7E7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A7E78"/>
                </a:solidFill>
                <a:latin typeface="Arial"/>
                <a:ea typeface="Arial"/>
                <a:cs typeface="Arial"/>
              </a:rPr>
              <a:t>No real outreach or</a:t>
            </a:r>
          </a:p>
          <a:p xmlns:a="http://schemas.openxmlformats.org/drawingml/2006/main">
            <a:pPr>
              <a:defRPr sz="2025" b="1">
                <a:solidFill>
                  <a:srgbClr val="1A7E7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A7E78"/>
                </a:solidFill>
                <a:latin typeface="Arial"/>
                <a:ea typeface="Arial"/>
                <a:cs typeface="Arial"/>
              </a:rPr>
              <a:t>client impact is claimed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02650F-F64F-4942-888D-A55703D1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185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1858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1858A"/>
                </a:solidFill>
                <a:latin typeface="Arial"/>
                <a:ea typeface="Arial"/>
                <a:cs typeface="Arial"/>
              </a:rPr>
              <a:t>Synthetic data. Portfolio demonstration. Independent project.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608E48-FC02-4115-8E0A-E9633B3E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185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185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858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449518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EE3B03-50D6-4B21-B47C-FAC4BCB8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77F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77F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77F78"/>
                </a:solidFill>
                <a:latin typeface="Arial"/>
                <a:ea typeface="Arial"/>
                <a:cs typeface="Arial"/>
              </a:rPr>
              <a:t>08  /  PROPOSED ROLLOUT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62B254-1E44-4254-8C19-761BF816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7810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35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54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542"/>
                </a:solidFill>
                <a:latin typeface="Arial"/>
                <a:ea typeface="Arial"/>
                <a:cs typeface="Arial"/>
              </a:rPr>
              <a:t>Evidence before</a:t>
            </a:r>
          </a:p>
          <a:p xmlns:a="http://schemas.openxmlformats.org/drawingml/2006/main">
            <a:pPr>
              <a:defRPr sz="3600" b="1">
                <a:solidFill>
                  <a:srgbClr val="17354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542"/>
                </a:solidFill>
                <a:latin typeface="Arial"/>
                <a:ea typeface="Arial"/>
                <a:cs typeface="Arial"/>
              </a:rPr>
              <a:t>operational expansion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87746D-B7FD-4213-924B-C96B87B1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7429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B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26B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73"/>
                </a:solidFill>
                <a:latin typeface="Arial"/>
                <a:ea typeface="Arial"/>
                <a:cs typeface="Arial"/>
              </a:rPr>
              <a:t>Shadow mode: verify account reasons and data freshness.</a:t>
            </a:r>
          </a:p>
          <a:p xmlns:a="http://schemas.openxmlformats.org/drawingml/2006/main">
            <a:pPr>
              <a:defRPr sz="1875" b="0">
                <a:solidFill>
                  <a:srgbClr val="526B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73"/>
                </a:solidFill>
                <a:latin typeface="Arial"/>
                <a:ea typeface="Arial"/>
                <a:cs typeface="Arial"/>
              </a:rPr>
              <a:t>Human review: annotate requests and resolve disagreement.</a:t>
            </a:r>
          </a:p>
          <a:p xmlns:a="http://schemas.openxmlformats.org/drawingml/2006/main">
            <a:pPr>
              <a:defRPr sz="1875" b="0">
                <a:solidFill>
                  <a:srgbClr val="526B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73"/>
                </a:solidFill>
                <a:latin typeface="Arial"/>
                <a:ea typeface="Arial"/>
                <a:cs typeface="Arial"/>
              </a:rPr>
              <a:t>Controlled pilot: randomize accounts between defined</a:t>
            </a:r>
          </a:p>
          <a:p xmlns:a="http://schemas.openxmlformats.org/drawingml/2006/main">
            <a:pPr>
              <a:defRPr sz="1875" b="0">
                <a:solidFill>
                  <a:srgbClr val="526B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73"/>
                </a:solidFill>
                <a:latin typeface="Arial"/>
                <a:ea typeface="Arial"/>
                <a:cs typeface="Arial"/>
              </a:rPr>
              <a:t>outreach and business-as-usual.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526B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73"/>
                </a:solidFill>
                <a:latin typeface="Arial"/>
                <a:ea typeface="Arial"/>
                <a:cs typeface="Arial"/>
              </a:rPr>
              <a:t>Plan sample size and track costs and complaints.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04E95A-67E8-4AB7-82EE-B84B461C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095625"/>
            <a:ext cx="2952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A7E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A7E7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A7E78"/>
                </a:solidFill>
                <a:latin typeface="Arial"/>
                <a:ea typeface="Arial"/>
                <a:cs typeface="Arial"/>
              </a:rPr>
              <a:t>Proposed owners</a:t>
            </a:r>
          </a:p>
          <a:p xmlns:a="http://schemas.openxmlformats.org/drawingml/2006/main">
            <a:pPr>
              <a:defRPr sz="2025" b="1">
                <a:solidFill>
                  <a:srgbClr val="1A7E7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A7E78"/>
                </a:solidFill>
                <a:latin typeface="Arial"/>
                <a:ea typeface="Arial"/>
                <a:cs typeface="Arial"/>
              </a:rPr>
              <a:t>Analyst, client-services reviewer</a:t>
            </a:r>
          </a:p>
          <a:p xmlns:a="http://schemas.openxmlformats.org/drawingml/2006/main">
            <a:pPr>
              <a:defRPr sz="2025" b="1">
                <a:solidFill>
                  <a:srgbClr val="1A7E7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A7E78"/>
                </a:solidFill>
                <a:latin typeface="Arial"/>
                <a:ea typeface="Arial"/>
                <a:cs typeface="Arial"/>
              </a:rPr>
              <a:t>and content specialist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70F02-2CAA-49C1-92E1-9EDDAC07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185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1858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1858A"/>
                </a:solidFill>
                <a:latin typeface="Arial"/>
                <a:ea typeface="Arial"/>
                <a:cs typeface="Arial"/>
              </a:rPr>
              <a:t>Synthetic data. Portfolio demonstration. Independent project.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15A9D0-475C-4DBF-82F8-74BB38E8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185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185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858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189577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04C530-4EE1-4AC0-90E6-A61FF52A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77F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77F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77F78"/>
                </a:solidFill>
                <a:latin typeface="Arial"/>
                <a:ea typeface="Arial"/>
                <a:cs typeface="Arial"/>
              </a:rPr>
              <a:t>09  /  LIMITATIONS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F9DD27-8F2D-4C69-865C-B20C6EB0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7810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35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54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542"/>
                </a:solidFill>
                <a:latin typeface="Arial"/>
                <a:ea typeface="Arial"/>
                <a:cs typeface="Arial"/>
              </a:rPr>
              <a:t>A reproducible workflow,</a:t>
            </a:r>
          </a:p>
          <a:p xmlns:a="http://schemas.openxmlformats.org/drawingml/2006/main">
            <a:pPr>
              <a:defRPr sz="3600" b="1">
                <a:solidFill>
                  <a:srgbClr val="17354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542"/>
                </a:solidFill>
                <a:latin typeface="Arial"/>
                <a:ea typeface="Arial"/>
                <a:cs typeface="Arial"/>
              </a:rPr>
              <a:t>with explicit limits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50A47C-3E89-49BD-85FE-5471E823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7429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B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26B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73"/>
                </a:solidFill>
                <a:latin typeface="Arial"/>
                <a:ea typeface="Arial"/>
                <a:cs typeface="Arial"/>
              </a:rPr>
              <a:t>Synthetic associations do not describe actual clients.</a:t>
            </a:r>
          </a:p>
          <a:p xmlns:a="http://schemas.openxmlformats.org/drawingml/2006/main">
            <a:pPr>
              <a:defRPr sz="1875" b="0">
                <a:solidFill>
                  <a:srgbClr val="526B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73"/>
                </a:solidFill>
                <a:latin typeface="Arial"/>
                <a:ea typeface="Arial"/>
                <a:cs typeface="Arial"/>
              </a:rPr>
              <a:t>Risk does not predict benefit from outreach.</a:t>
            </a:r>
          </a:p>
          <a:p xmlns:a="http://schemas.openxmlformats.org/drawingml/2006/main">
            <a:pPr>
              <a:defRPr sz="1875" b="0">
                <a:solidFill>
                  <a:srgbClr val="526B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73"/>
                </a:solidFill>
                <a:latin typeface="Arial"/>
                <a:ea typeface="Arial"/>
                <a:cs typeface="Arial"/>
              </a:rPr>
              <a:t>The optional ML model is deferred.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526B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73"/>
                </a:solidFill>
                <a:latin typeface="Arial"/>
                <a:ea typeface="Arial"/>
                <a:cs typeface="Arial"/>
              </a:rPr>
              <a:t>Next: run the demo yourself, trace five accounts,</a:t>
            </a:r>
          </a:p>
          <a:p xmlns:a="http://schemas.openxmlformats.org/drawingml/2006/main">
            <a:pPr>
              <a:defRPr sz="1875" b="0">
                <a:solidFill>
                  <a:srgbClr val="526B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73"/>
                </a:solidFill>
                <a:latin typeface="Arial"/>
                <a:ea typeface="Arial"/>
                <a:cs typeface="Arial"/>
              </a:rPr>
              <a:t>annotate requests, and complete a real peer review.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7DB9D2-EDE0-49C9-84B6-557C0B83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095625"/>
            <a:ext cx="2952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A7E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A7E7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A7E78"/>
                </a:solidFill>
                <a:latin typeface="Arial"/>
                <a:ea typeface="Arial"/>
                <a:cs typeface="Arial"/>
              </a:rPr>
              <a:t>Reproduce locally</a:t>
            </a:r>
          </a:p>
          <a:p xmlns:a="http://schemas.openxmlformats.org/drawingml/2006/main">
            <a:pPr>
              <a:defRPr sz="2025" b="1">
                <a:solidFill>
                  <a:srgbClr val="1A7E7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A7E78"/>
                </a:solidFill>
                <a:latin typeface="Arial"/>
                <a:ea typeface="Arial"/>
                <a:cs typeface="Arial"/>
              </a:rPr>
              <a:t>make refresh</a:t>
            </a:r>
          </a:p>
          <a:p xmlns:a="http://schemas.openxmlformats.org/drawingml/2006/main">
            <a:pPr>
              <a:defRPr sz="2025" b="1">
                <a:solidFill>
                  <a:srgbClr val="1A7E7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A7E78"/>
                </a:solidFill>
                <a:latin typeface="Arial"/>
                <a:ea typeface="Arial"/>
                <a:cs typeface="Arial"/>
              </a:rPr>
              <a:t>make test</a:t>
            </a:r>
          </a:p>
          <a:p xmlns:a="http://schemas.openxmlformats.org/drawingml/2006/main">
            <a:pPr>
              <a:defRPr sz="2025" b="1">
                <a:solidFill>
                  <a:srgbClr val="1A7E7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A7E78"/>
                </a:solidFill>
                <a:latin typeface="Arial"/>
                <a:ea typeface="Arial"/>
                <a:cs typeface="Arial"/>
              </a:rPr>
              <a:t>make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642DD5-8534-4EB5-9AD7-872D188F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185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1858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1858A"/>
                </a:solidFill>
                <a:latin typeface="Arial"/>
                <a:ea typeface="Arial"/>
                <a:cs typeface="Arial"/>
              </a:rPr>
              <a:t>Synthetic data. Portfolio demonstration. Independent project.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12507F-CB0A-43D6-8FF9-5E678DC1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185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185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858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590731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2026-10-14T18:21:23.6720000Z</dcterms:created>
  <dcterms:modified xsi:type="dcterms:W3CDTF">2026-10-14T18:21:23.6720000Z</dcterms:modified>
</coreProperties>
</file>